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cold. One sentence: SolarGuard tells a Saudi solar plant, every morning, whether cleaning the panels today is worth the money.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verbs. Do not explain the internals yet, the rubric slides do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step 5: the output is a decision, not a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to frame the next seven. Point out that every criterion gets its own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are on the slide. If asked for the weakest number, say the 10.78/16.13 pair is our own simulation and name the assumptions (100 MWp, Dammam, 1,800 SAR/MWp per pass).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trade-off is what the rubric asks for at 5, not a weakness to avoid.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criterion gives 0 without AI or ML. Say it plainly: five models we trained, and an agentic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15k SAR as our estimate, not a quote. If pressed, the cost is dominated by people, not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judges want the failure test live, the leave-one-site-out block is in the model metrics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water number matters because every pass skipped is water not used in a desert.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the extras slides. Keep this one short, it is about how we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 five is two trained models blended, so ten in total. No GPU, no ML library: hand-written in numpy.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never speaks from memory: it asks for data, waits for the real output, then talks.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Let the last line land,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A45C"/>
                </a:solidFill>
                <a:latin typeface="Courier New"/>
              </a:rPr>
              <a:t>DUST INTELLIGENCE FOR SAUDI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228600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3F4F6"/>
                </a:solidFill>
                <a:latin typeface="Arial"/>
              </a:rPr>
              <a:t>SolarGuard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3B2"/>
                </a:solidFill>
                <a:latin typeface="Calibri"/>
              </a:rPr>
              <a:t>You can't see the dust. We can.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92040"/>
            <a:ext cx="2240280" cy="475488"/>
          </a:xfrm>
          <a:prstGeom prst="roundRect">
            <a:avLst>
              <a:gd name="adj" fmla="val 28000"/>
            </a:avLst>
          </a:prstGeom>
          <a:solidFill>
            <a:srgbClr val="0B1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12 OPEN FEEDS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4892040"/>
            <a:ext cx="2240280" cy="475488"/>
          </a:xfrm>
          <a:prstGeom prst="roundRect">
            <a:avLst>
              <a:gd name="adj" fmla="val 28000"/>
            </a:avLst>
          </a:prstGeom>
          <a:solidFill>
            <a:srgbClr val="0B1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5 MODELS TRAINED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4892040"/>
            <a:ext cx="2240280" cy="475488"/>
          </a:xfrm>
          <a:prstGeom prst="roundRect">
            <a:avLst>
              <a:gd name="adj" fmla="val 28000"/>
            </a:avLst>
          </a:prstGeom>
          <a:solidFill>
            <a:srgbClr val="0B1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2"/>
                </a:solidFill>
                <a:latin typeface="Courier New"/>
              </a:rPr>
              <a:t>Team space-Marines  ·  Riyadh–Dammam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Satellite in. One decision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3401568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2542032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127248"/>
            <a:ext cx="27797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12 live open feeds: satellite dust, aerosol, wind, sun, 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856" y="4041648"/>
            <a:ext cx="141732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12 FEEDS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1144" y="2240280"/>
            <a:ext cx="3401568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542032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127248"/>
            <a:ext cx="27797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Our own AI models, trained in-house on 4 years of Saudi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4041648"/>
            <a:ext cx="141732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5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2240280"/>
            <a:ext cx="3401568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0224" y="2542032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3127248"/>
            <a:ext cx="27797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CLEAN or WAIT, priced in riyals. Nothing installed on site.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0224" y="4041648"/>
            <a:ext cx="141732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Five steps, satellite to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948220" cy="17373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6060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Live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2348" y="2331720"/>
            <a:ext cx="1948220" cy="17373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6668" y="26060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668" y="3246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AI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1737" y="2331720"/>
            <a:ext cx="1948220" cy="17373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6057" y="26060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6057" y="3246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Forecasts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1125" y="2331720"/>
            <a:ext cx="1948220" cy="17373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5445" y="26060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5445" y="3246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Economics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0514" y="2331720"/>
            <a:ext cx="1948220" cy="17373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94834" y="26060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4834" y="3246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CLEAN or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A45C"/>
                </a:solidFill>
                <a:latin typeface="Arial"/>
              </a:rPr>
              <a:t>The AI predicts. The physics engine decides.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THE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Why this is a 5 on all seven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404872"/>
            <a:ext cx="411480" cy="31089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1117"/>
                </a:solidFill>
                <a:latin typeface="Courier New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ourier New"/>
              </a:rP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9864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Problem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214884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2404872"/>
            <a:ext cx="411480" cy="31089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1117"/>
                </a:solidFill>
                <a:latin typeface="Courier New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2316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ourier New"/>
              </a:rP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Originality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2404872"/>
            <a:ext cx="411480" cy="31089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1117"/>
                </a:solidFill>
                <a:latin typeface="Courier New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42316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ourier New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9864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Solution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214884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64040" y="2404872"/>
            <a:ext cx="411480" cy="31089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1117"/>
                </a:solidFill>
                <a:latin typeface="Courier New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42316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ourier New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89864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Feasibility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4048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4096512"/>
            <a:ext cx="411480" cy="31089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1117"/>
                </a:solidFill>
                <a:latin typeface="Courier New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148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ourier New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Demonstrated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79" y="384048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86200" y="4096512"/>
            <a:ext cx="411480" cy="31089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1117"/>
                </a:solidFill>
                <a:latin typeface="Courier New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1148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ourier New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59028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Saudi impact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048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5120" y="4096512"/>
            <a:ext cx="411480" cy="31089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1117"/>
                </a:solidFill>
                <a:latin typeface="Courier New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1148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ourier New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59028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Calibri"/>
              </a:rPr>
              <a:t>Presentation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19" y="3840480"/>
            <a:ext cx="2514600" cy="1463040"/>
          </a:xfrm>
          <a:prstGeom prst="roundRect">
            <a:avLst>
              <a:gd name="adj" fmla="val 5500"/>
            </a:avLst>
          </a:prstGeom>
          <a:solidFill>
            <a:srgbClr val="141B29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413308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A45C"/>
                </a:solidFill>
                <a:latin typeface="Arial"/>
              </a:rPr>
              <a:t>5 /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663440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All seven, evidenced next.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870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2"/>
                </a:solidFill>
                <a:latin typeface="Calibri"/>
              </a:rPr>
              <a:t>Each criterion, the requirement, and the evidence we can show.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CRITERION 1 OF 7   ·   15%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3F4F6"/>
                </a:solidFill>
                <a:latin typeface="Arial"/>
              </a:rPr>
              <a:t>Problem definition and specificity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5640" y="868680"/>
            <a:ext cx="777240" cy="658368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40280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Dust costs 20-40% of output: measured on the Saudi east coast at 30-35%, and 20% from a single sandstorm.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KAUST 2023 · Energies 2022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456432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Today: fixed calendars (weekly, 10-day) or a dust threshold. None ask what tomorrow brings.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IEA-PVPS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554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72584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At 100 MWp: 10.78M SAR a year cleaning weekly, 16.13M never cleaning.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our simulation, measured weather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CRITERION 2 OF 7   ·   15%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3F4F6"/>
                </a:solidFill>
                <a:latin typeface="Arial"/>
              </a:rPr>
              <a:t>Originality and differentiation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5640" y="868680"/>
            <a:ext cx="777240" cy="658368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40280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Compared with the fixed calendar, and with dust-threshold sensors that need hardware and act after the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closest available approaches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456432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We move cleaning from a calendar to a forecast plus economics: a riyal decision, no hardware.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our contribution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554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72584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Output error 0.234 vs 2.572 kWh/kWp for the naive guess: 11x. Trade-off: a brand-new site is less accurate (AUC 0.785).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tested, limitation stated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CRITERION 3 OF 7   ·  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3F4F6"/>
                </a:solidFill>
                <a:latin typeface="Arial"/>
              </a:rPr>
              <a:t>Solution design and expected effectiveness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5640" y="868680"/>
            <a:ext cx="777240" cy="658368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40280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Success criterion: beat the 10-day habit on annual cost at equal or better energy. Model: 6.71M vs 8.41M SAR a year, 18 cleans.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measurable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456432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Failures handled: a dead feed degrades one number; if the AI is unavailable the physics engine answers; no input returns a clear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safeguards, by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554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72584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Boundary of use: dust-dominated, low-rain desert sites. Snow, hydro and coastal fog are out of 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stated, not implied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CRITERION 4 OF 7   ·   15%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3F4F6"/>
                </a:solidFill>
                <a:latin typeface="Arial"/>
              </a:rPr>
              <a:t>Technical and implementation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5640" y="868680"/>
            <a:ext cx="777240" cy="658368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40280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Core assumption (soiling 0.2-0.8% per day in Saudi) comes from published measurement, not guesswork.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IEA-PVPS 2022 · KAUST 2020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456432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Pilot: one 100 MWp site, 90 days, software only. Estimate: one engineer plus cloud, about 15k SAR a month.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estimate, assumptions stated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554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72584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Two real risks: no inverter ground truth, and feed outages. Mitigations: compare against the plant's own inverters; cache plus physics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each with a fix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CRITERION 5 OF 7   ·   10%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3F4F6"/>
                </a:solidFill>
                <a:latin typeface="Arial"/>
              </a:rPr>
              <a:t>Demonstrated development and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5640" y="868680"/>
            <a:ext cx="777240" cy="658368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40280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Working end to end: pick a site on the map, get the AI prediction, the verdict, and an agent answer with its tool trace.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live, not mocked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456432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Tested against baselines on 2,244 unseen days: storm AUC 0.952, output within 7.7%, soiling within 8.4%.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measured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554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72584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Failure tested: hide a whole site and score it (AUC 0.785), plus a test that fails if the served data drifts from training.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reliability reported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CRITERION 6 OF 7   ·   15%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3F4F6"/>
                </a:solidFill>
                <a:latin typeface="Arial"/>
              </a:rPr>
              <a:t>Saudi-market relevance and potential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5640" y="868680"/>
            <a:ext cx="777240" cy="658368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40280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Built on 12 Saudi sites from NEOM to Dammam, on Saudi dust literature, for the Kingdom's solar build-out.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local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456432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Per 100 MWp site: about 1.7M SAR and 4.5M litres of water saved a year versus the 10-day habit.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simulated, assumptions stated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554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72584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Adopted by the plant's O&amp;M manager: open the dashboard in the morning, read CLEAN or WAIT, send crews only when it pays.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fits the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CRITERION 7 OF 7   ·   10%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3F4F6"/>
                </a:solidFill>
                <a:latin typeface="Arial"/>
              </a:rPr>
              <a:t>Presentation and responses to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5640" y="868680"/>
            <a:ext cx="777240" cy="658368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40280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One slide per criterion, in order, inside the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456432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We label every number: built and tested, or estimated.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no blurring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61320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554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A45C"/>
                </a:solidFill>
                <a:latin typeface="Courier New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72584"/>
            <a:ext cx="8183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3F4F6"/>
                </a:solidFill>
                <a:latin typeface="Calibri"/>
              </a:rPr>
              <a:t>Answers come with the source, and we name what we don't know: at one day ahead the naive rule still wins on F1.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uncertainties named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EXTRA · THE MODELS WE 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Five models, built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383280" cy="178308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77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A45C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467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models shipped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48840"/>
            <a:ext cx="3383280" cy="178308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A45C"/>
                </a:solidFill>
                <a:latin typeface="Arial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3467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inputs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48840"/>
            <a:ext cx="3383280" cy="178308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77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A45C"/>
                </a:solidFill>
                <a:latin typeface="Arial"/>
              </a:rP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3467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boosted trees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15968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·  Trained in-house on 4 years of Saudi dust and weather, 12 sites, 18,348 site-days.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18888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·  Each model blends a gradient-boosted tree ensemble with a neural network.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21807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·  Tested on 2,244 days never seen: storm AUC 0.952, output within 7.7%, soiling within 8.4%.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EXTRA · THE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It asks, waits, then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485567" cy="155448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359152"/>
            <a:ext cx="41148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A45C"/>
                </a:solidFill>
                <a:latin typeface="Courier New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71216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Operator asks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9695" y="2103120"/>
            <a:ext cx="2485567" cy="155448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84015" y="2359152"/>
            <a:ext cx="41148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A45C"/>
                </a:solidFill>
                <a:latin typeface="Courier New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4015" y="2871216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Model calls its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2103120"/>
            <a:ext cx="2485567" cy="155448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0751" y="2359152"/>
            <a:ext cx="41148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A45C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2871216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Server runs them and waits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3167" y="2103120"/>
            <a:ext cx="2485567" cy="155448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57487" y="2359152"/>
            <a:ext cx="41148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A45C"/>
                </a:solidFill>
                <a:latin typeface="Courier New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7487" y="2871216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Model answers with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10424160" cy="566928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2452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3B2"/>
                </a:solidFill>
                <a:latin typeface="Calibri"/>
              </a:rPr>
              <a:t>10 tools over the live data, plus document search so answers carry sources.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45736"/>
            <a:ext cx="10424160" cy="566928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011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3B2"/>
                </a:solidFill>
                <a:latin typeface="Calibri"/>
              </a:rPr>
              <a:t>Retrieval over 672 indexed chunks of soiling research.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22392"/>
            <a:ext cx="10424160" cy="566928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3B2"/>
                </a:solidFill>
                <a:latin typeface="Calibri"/>
              </a:rPr>
              <a:t>It acts on the page: moves the map, switches the satellite layer.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600" b="1">
                <a:solidFill>
                  <a:srgbClr val="F3F4F6"/>
                </a:solidFill>
                <a:latin typeface="Arial"/>
              </a:rPr>
              <a:t>CLEAN or 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3B2"/>
                </a:solidFill>
                <a:latin typeface="Calibri"/>
              </a:rPr>
              <a:t>From a fixed schedule to a data-driven economic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2"/>
                </a:solidFill>
                <a:latin typeface="Courier New"/>
              </a:rPr>
              <a:t>github.com/Hermes-mahers-bot/solarguard-space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