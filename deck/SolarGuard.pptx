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cold. One sentence: SolarGuard tells a Saudi solar plant, every morning, whether cleaning the panels today is worth the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verbs only. The detail comes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step 5: the output is a decision, not a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are on the slide. If challenged on 10.78/16.13, say it is our own simulation and give the assumptions: 100 MWp, Dammam, 1,800 SAR per MWp per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trade-off openly is deliberate. If asked about sensors, say they measure soiling we already predict from orbit, at a fraction of the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success criterion is on the slide. Both agents of failure are handled in code and covered by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plainly that 15k SAR is our estimate, not a quote, and that cost is dominated by people rather than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judges want the failure test, the hidden-site block is in models/ai/metrics.json.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water figure matters because every pass skipped is water not used in a desert.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exists to draw the line between what we built and what we estimate. Volunteer it before anyone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sentence here: no inverter data is public for Saudi plants, so two of the three targets are documented formulas rather than meter readings.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Leave-one-site-out: storm AUC 0.785 on a site the models never saw. Say that before being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answer to quote: 'WAIT, about 12,030 SAR lost this week against 180,000 SAR for one pass, so cleaning now costs roughly 15 times what it recovers.'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talking. Let it land,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A45C"/>
                </a:solidFill>
                <a:latin typeface="Courier New"/>
              </a:rPr>
              <a:t>DUST INTELLIGENCE FOR SAUDI SOLAR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228600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3F4F6"/>
                </a:solidFill>
                <a:latin typeface="Arial"/>
              </a:rPr>
              <a:t>SolarGuard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3B2"/>
                </a:solidFill>
                <a:latin typeface="Calibri"/>
              </a:rPr>
              <a:t>You can't see the dust. We can.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92040"/>
            <a:ext cx="2240280" cy="475488"/>
          </a:xfrm>
          <a:prstGeom prst="roundRect">
            <a:avLst>
              <a:gd name="adj" fmla="val 28000"/>
            </a:avLst>
          </a:prstGeom>
          <a:solidFill>
            <a:srgbClr val="0B1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12 OPEN FEEDS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4892040"/>
            <a:ext cx="2240280" cy="475488"/>
          </a:xfrm>
          <a:prstGeom prst="roundRect">
            <a:avLst>
              <a:gd name="adj" fmla="val 28000"/>
            </a:avLst>
          </a:prstGeom>
          <a:solidFill>
            <a:srgbClr val="0B1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5 MODELS TRAINED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4892040"/>
            <a:ext cx="2240280" cy="475488"/>
          </a:xfrm>
          <a:prstGeom prst="roundRect">
            <a:avLst>
              <a:gd name="adj" fmla="val 28000"/>
            </a:avLst>
          </a:prstGeom>
          <a:solidFill>
            <a:srgbClr val="0B1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1 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2"/>
                </a:solidFill>
                <a:latin typeface="Courier New"/>
              </a:rPr>
              <a:t>Team space-Marines  ·  Riyadh and Dammam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Satellite in. One decision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3277514" cy="233172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2542032"/>
            <a:ext cx="26557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A45C"/>
                </a:solidFill>
                <a:latin typeface="Arial"/>
              </a:rPr>
              <a:t>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3127248"/>
            <a:ext cx="26557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9AA3B2"/>
                </a:solidFill>
                <a:latin typeface="Calibri"/>
              </a:rPr>
              <a:t>12 live open feeds: satellite dust, aerosol, wind, sun, rain.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3856" y="4041648"/>
            <a:ext cx="1463040" cy="365760"/>
          </a:xfrm>
          <a:prstGeom prst="roundRect">
            <a:avLst>
              <a:gd name="adj" fmla="val 28000"/>
            </a:avLst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12 FEEDS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7090" y="2240280"/>
            <a:ext cx="3277514" cy="233172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7986" y="2542032"/>
            <a:ext cx="26557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A45C"/>
                </a:solidFill>
                <a:latin typeface="Arial"/>
              </a:rPr>
              <a:t>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7986" y="3127248"/>
            <a:ext cx="26557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9AA3B2"/>
                </a:solidFill>
                <a:latin typeface="Calibri"/>
              </a:rPr>
              <a:t>Our own AI models, trained in-house on 4 years of Saudi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67986" y="4041648"/>
            <a:ext cx="1463040" cy="365760"/>
          </a:xfrm>
          <a:prstGeom prst="roundRect">
            <a:avLst>
              <a:gd name="adj" fmla="val 28000"/>
            </a:avLst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5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2240280"/>
            <a:ext cx="3277514" cy="233172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2116" y="2542032"/>
            <a:ext cx="26557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A45C"/>
                </a:solidFill>
                <a:latin typeface="Arial"/>
              </a:rPr>
              <a:t>Decide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2116" y="3127248"/>
            <a:ext cx="26557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9AA3B2"/>
                </a:solidFill>
                <a:latin typeface="Calibri"/>
              </a:rPr>
              <a:t>CLEAN or WAIT, priced in riyals. Nothing installed on site.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02116" y="4041648"/>
            <a:ext cx="1463040" cy="365760"/>
          </a:xfrm>
          <a:prstGeom prst="roundRect">
            <a:avLst>
              <a:gd name="adj" fmla="val 28000"/>
            </a:avLst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1 VERDICT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Five steps, satellite to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1948220" cy="160020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8992" y="2542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154680"/>
            <a:ext cx="14361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Live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2348" y="2286000"/>
            <a:ext cx="1948220" cy="160020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28380" y="2542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8380" y="3154680"/>
            <a:ext cx="14361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AI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1737" y="2286000"/>
            <a:ext cx="1948220" cy="160020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77769" y="2542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7769" y="3154680"/>
            <a:ext cx="14361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Forecasts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1125" y="2286000"/>
            <a:ext cx="1948220" cy="160020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27157" y="2542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7157" y="3154680"/>
            <a:ext cx="14361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Economics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20514" y="2286000"/>
            <a:ext cx="1948220" cy="160020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76546" y="2542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6546" y="3154680"/>
            <a:ext cx="14361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CLEAN or 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A45C"/>
                </a:solidFill>
                <a:latin typeface="Arial"/>
              </a:rPr>
              <a:t>The AI predicts. The physics engine decides.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Dust costs more than the cleaning it forces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240280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Dust and sandstorms take 20-40% of output: 30-35% measured on the Saudi east coast, 20% from a single sandstorm.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229514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KAUST 2023 · Energies 2022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73552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56432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456432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Operators clean on a fixed calendar, or once a sensor says dust is already high. Neither asks what tomorrow brings.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351129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IEA-PVPS 2022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89704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672584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Severity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672584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At a 100 MWp plant: 10.78M SAR a year cleaning weekly, 16.13M never cleaning at 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472744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our simulation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WHAT'S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From a calendar to an economic forecast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Compared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240280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The closest approaches: a fixed calendar, and dust-threshold sensors that need hardware and react once the loss has started.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229514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closest 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73552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56432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456432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We turn cleaning into a forecast plus economics: one riyal decision per site per day, with no hardware on 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351129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our contribution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89704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672584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Trade-off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672584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Output error 0.234 against 2.572 kWh/kWp for the naive guess, 11x better. At a site we have never seen, accuracy drops to AUC 0.785.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472744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tested, limitation stated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WHAT IT DELIVERS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One verdict an operator can act 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The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240280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Beat the 10-day habit on annual cost, at equal or better energy: 6.71M against 8.41M SAR a year, with 18 cleans.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229514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measurable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73552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56432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Safeguards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456432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A dead feed degrades a single number. If the AI is unavailable the physics engine answers. A bad request returns a clear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351129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by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89704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672584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672584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Built for dust-dominated, low-rain desert sites. Snow, hydro and coastal fog are out of scope.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472744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stated, not implied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CAN IT BE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A 90-day pilot, software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Assumption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240280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The core number, soiling at 0.2-0.8% per day in Saudi Arabia, comes from published measurement rather than guesswork.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229514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IEA-PVPS 2022 · KAUST 2020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73552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56432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456432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Pilot at one 100 MWp plant in about 90 days. Estimate: one engineer plus cloud, roughly 15k SAR a month.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351129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estimate, assumptions stated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89704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672584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672584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Two that matter: no inverter ground truth, and feed outages. Fixes: score against the plant's own inverters, and cache with a physics fallback.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472744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each with a fix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WHAT WE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Working, and measured against baselines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240280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Live: pick a site on the map, read the AI prediction, the verdict, and an agent answer with the tools it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229514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live, not mocked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73552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56432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Baselines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456432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On 2,244 days it had never seen: storm AUC 0.952, output within 7.7%, soiling within 8.4%.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351129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measured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89704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672584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672584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We hid a whole site and scored it (AUC 0.785), and we test that the data served can never drift from the data trained 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472744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reliability reported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WHY SAUDI ARABIA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Built here, for 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240280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Trained on 12 Saudi sites, from NEOM to Dammam, on Saudi dust measurements.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229514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local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73552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56432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456432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Per 100 MWp site: about 1.7M SAR and 4.5M litres of water saved a year against the 10-day habit.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351129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simulated, assumptions stated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89704"/>
            <a:ext cx="10543032" cy="1060704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672584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45C"/>
                </a:solidFill>
                <a:latin typeface="Calibri"/>
              </a:rPr>
              <a:t>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672584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F3F4F6"/>
                </a:solidFill>
                <a:latin typeface="Calibri"/>
              </a:rPr>
              <a:t>The plant's operations manager opens the dashboard each morning, reads CLEAN or WAIT, and sends crews only when it pays.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472744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AA3B2"/>
                </a:solidFill>
                <a:latin typeface="Courier New"/>
              </a:rPr>
              <a:t>fits the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WHAT IS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Built, estimated, and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3277514" cy="233172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2542032"/>
            <a:ext cx="26557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A45C"/>
                </a:solidFill>
                <a:latin typeface="Arial"/>
              </a:rPr>
              <a:t>Built and 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3127248"/>
            <a:ext cx="26557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9AA3B2"/>
                </a:solidFill>
                <a:latin typeface="Calibri"/>
              </a:rPr>
              <a:t>Live on 12 open feeds. AI scored on 2,244 unseen days and on a hidden site. The agent cites its 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3856" y="4041648"/>
            <a:ext cx="1463040" cy="365760"/>
          </a:xfrm>
          <a:prstGeom prst="roundRect">
            <a:avLst>
              <a:gd name="adj" fmla="val 28000"/>
            </a:avLst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WORKING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7090" y="2240280"/>
            <a:ext cx="3277514" cy="233172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7986" y="2542032"/>
            <a:ext cx="26557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A45C"/>
                </a:solidFill>
                <a:latin typeface="Arial"/>
              </a:rPr>
              <a:t>Estimated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7986" y="3127248"/>
            <a:ext cx="26557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9AA3B2"/>
                </a:solidFill>
                <a:latin typeface="Calibri"/>
              </a:rPr>
              <a:t>Output comes from measured weather and physics, not inverter meters. Savings come from a one-year simulation.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67986" y="4041648"/>
            <a:ext cx="1463040" cy="365760"/>
          </a:xfrm>
          <a:prstGeom prst="roundRect">
            <a:avLst>
              <a:gd name="adj" fmla="val 28000"/>
            </a:avLst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MODELLED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2240280"/>
            <a:ext cx="3277514" cy="233172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2116" y="2542032"/>
            <a:ext cx="26557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A45C"/>
                </a:solidFill>
                <a:latin typeface="Arial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2116" y="3127248"/>
            <a:ext cx="26557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9AA3B2"/>
                </a:solidFill>
                <a:latin typeface="Calibri"/>
              </a:rPr>
              <a:t>Pilot at a real Saudi plant, compared against real inverter output, with site sensors and real costs.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02116" y="4041648"/>
            <a:ext cx="1463040" cy="365760"/>
          </a:xfrm>
          <a:prstGeom prst="roundRect">
            <a:avLst>
              <a:gd name="adj" fmla="val 28000"/>
            </a:avLst>
          </a:prstGeom>
          <a:solidFill>
            <a:srgbClr val="14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9AA3B2"/>
                </a:solidFill>
                <a:latin typeface="Courier New"/>
              </a:rPr>
              <a:t>NEXT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EXTRA · HOW WE TRAINED THE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Four years of Saudi dust, then five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1948220" cy="160020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8992" y="2542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154680"/>
            <a:ext cx="14361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Collect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2348" y="2286000"/>
            <a:ext cx="1948220" cy="160020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28380" y="2542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8380" y="3154680"/>
            <a:ext cx="14361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Build 37 inputs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1737" y="2286000"/>
            <a:ext cx="1948220" cy="160020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77769" y="2542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7769" y="3154680"/>
            <a:ext cx="14361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Define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1125" y="2286000"/>
            <a:ext cx="1948220" cy="160020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27157" y="2542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7157" y="3154680"/>
            <a:ext cx="14361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Split honestly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20514" y="2286000"/>
            <a:ext cx="1948220" cy="160020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76546" y="2542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1117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6546" y="3154680"/>
            <a:ext cx="14361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Train and blend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A45C"/>
                </a:solidFill>
                <a:latin typeface="Arial"/>
              </a:rPr>
              <a:t>18,348 site-days · 12 sites · 37 inputs · 1,540 trees · 22,725 weights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709160"/>
            <a:ext cx="10543032" cy="566928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646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2"/>
                </a:solidFill>
                <a:latin typeface="Calibri"/>
              </a:rPr>
              <a:t>Every input is measured: satellite dust, aerosol, wind, sun and rain, plus how long since it rained.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358384"/>
            <a:ext cx="10543032" cy="566928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5138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2"/>
                </a:solidFill>
                <a:latin typeface="Calibri"/>
              </a:rPr>
              <a:t>Every target is defined in code and documented: a measured storm threshold, and two physics formulas fed with measured weather.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6007608"/>
            <a:ext cx="10543032" cy="566928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16305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2"/>
                </a:solidFill>
                <a:latin typeface="Calibri"/>
              </a:rPr>
              <a:t>Two model families trained for each target and blended by measured skill. No GPU, no ML library: written in numpy, 16 minutes on CPU.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EXTRA · WHAT THE MODELS PREDICT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Five models, and how wrong they 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3301898" cy="169164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59152"/>
            <a:ext cx="266181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FFA45C"/>
                </a:solidFill>
                <a:latin typeface="Arial"/>
              </a:rPr>
              <a:t>0.952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255264"/>
            <a:ext cx="26618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alibri"/>
              </a:rPr>
              <a:t>storm AUC, day +1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4898" y="2148840"/>
            <a:ext cx="3301898" cy="169164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4938" y="2359152"/>
            <a:ext cx="266181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FFA45C"/>
                </a:solidFill>
                <a:latin typeface="Arial"/>
              </a:rPr>
              <a:t>7.7%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4938" y="3255264"/>
            <a:ext cx="26618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alibri"/>
              </a:rPr>
              <a:t>output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6836" y="2148840"/>
            <a:ext cx="3301898" cy="169164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6876" y="2359152"/>
            <a:ext cx="266181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FFA45C"/>
                </a:solidFill>
                <a:latin typeface="Arial"/>
              </a:rPr>
              <a:t>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6876" y="3255264"/>
            <a:ext cx="26618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alibri"/>
              </a:rPr>
              <a:t>soiling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3B2"/>
                </a:solidFill>
                <a:latin typeface="Calibri"/>
              </a:rPr>
              <a:t>·  Storm risk at +1, +2 and +3 days, so a crew can be booked before the dust lands.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2686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3B2"/>
                </a:solidFill>
                <a:latin typeface="Calibri"/>
              </a:rPr>
              <a:t>·  Tomorrow's output in kWh and kWh per kWp, which is the number that turns dust into riyals.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3892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3B2"/>
                </a:solidFill>
                <a:latin typeface="Calibri"/>
              </a:rPr>
              <a:t>·  Tomorrow's soiling loss, which drives the clean-or-wait verdict and the water saving.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A45C"/>
                </a:solidFill>
                <a:latin typeface="Courier New"/>
              </a:rPr>
              <a:t>EXTRA · THE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3F4F6"/>
                </a:solidFill>
                <a:latin typeface="Arial"/>
              </a:rPr>
              <a:t>It asks, waits, then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2485567" cy="150876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8992" y="2340864"/>
            <a:ext cx="438912" cy="402336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117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871216"/>
            <a:ext cx="197350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Operator 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9695" y="2103120"/>
            <a:ext cx="2485567" cy="150876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65727" y="2340864"/>
            <a:ext cx="438912" cy="402336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117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5727" y="2871216"/>
            <a:ext cx="197350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Model calls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2103120"/>
            <a:ext cx="2485567" cy="150876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52463" y="2340864"/>
            <a:ext cx="438912" cy="402336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117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2463" y="2871216"/>
            <a:ext cx="197350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Server runs them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3167" y="2103120"/>
            <a:ext cx="2485567" cy="1508760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39199" y="2340864"/>
            <a:ext cx="438912" cy="402336"/>
          </a:xfrm>
          <a:prstGeom prst="roundRect">
            <a:avLst>
              <a:gd name="adj" fmla="val 28000"/>
            </a:avLst>
          </a:prstGeom>
          <a:solidFill>
            <a:srgbClr val="FF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117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9199" y="2871216"/>
            <a:ext cx="197350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3F4F6"/>
                </a:solidFill>
                <a:latin typeface="Calibri"/>
              </a:rPr>
              <a:t>Answer with sources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86200"/>
            <a:ext cx="10543032" cy="621792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69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alibri"/>
              </a:rPr>
              <a:t>10 tools over the live data, and retrieval over 672 indexed chunks of soiling research so answers carry citations.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08576"/>
            <a:ext cx="10543032" cy="621792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9145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alibri"/>
              </a:rPr>
              <a:t>The model never speaks from memory: it asks for data, waits for the real output, then writes the answer.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30952"/>
            <a:ext cx="10543032" cy="621792"/>
          </a:xfrm>
          <a:prstGeom prst="roundRect">
            <a:avLst>
              <a:gd name="adj" fmla="val 5500"/>
            </a:avLst>
          </a:prstGeom>
          <a:solidFill>
            <a:srgbClr val="0B101B"/>
          </a:solidFill>
          <a:ln w="9525">
            <a:solidFill>
              <a:srgbClr val="23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5138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Calibri"/>
              </a:rPr>
              <a:t>It acts on the page as well: it moves the map to a site and switches the satellite layer.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600" b="1">
                <a:solidFill>
                  <a:srgbClr val="F3F4F6"/>
                </a:solidFill>
                <a:latin typeface="Arial"/>
              </a:rPr>
              <a:t>CLEAN or WAIT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3B2"/>
                </a:solidFill>
                <a:latin typeface="Calibri"/>
              </a:rPr>
              <a:t>From a fixed schedule to a data-driven economic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2"/>
                </a:solidFill>
                <a:latin typeface="Courier New"/>
              </a:rPr>
              <a:t>github.com/Hermes-mahers-bot/solarguard-space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